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62038"/>
            <a:ext cx="57150" cy="57150"/>
          </a:xfrm>
          <a:prstGeom prst="ellipse">
            <a:avLst/>
          </a:prstGeom>
          <a:solidFill>
            <a:srgbClr val="88C0D0"/>
          </a:solidFill>
          <a:ln/>
        </p:spPr>
      </p:sp>
      <p:sp>
        <p:nvSpPr>
          <p:cNvPr id="3" name="Text 1"/>
          <p:cNvSpPr/>
          <p:nvPr/>
        </p:nvSpPr>
        <p:spPr>
          <a:xfrm>
            <a:off x="1162050" y="952500"/>
            <a:ext cx="49901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КУРСОВАЯ РАБОТА · ИЦТМС 3-4 · 2026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3790712" y="952500"/>
            <a:ext cx="36511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 LINUX / MONITORING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553444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COURSEWORK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3201144"/>
            <a:ext cx="14716125" cy="2602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b="1" spc="-165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Средства диагностики, контроля и мониторинга </a:t>
            </a:r>
            <a:pPr algn="l" indent="0" marL="0">
              <a:lnSpc>
                <a:spcPct val="102000"/>
              </a:lnSpc>
              <a:buNone/>
            </a:pPr>
            <a:r>
              <a:rPr lang="en-US" sz="6600" b="1" spc="-165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Arch Linux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952500" y="6299150"/>
            <a:ext cx="72390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6651575"/>
            <a:ext cx="16874490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spc="-49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 · htop · Glances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52500" y="8437215"/>
            <a:ext cx="33531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8818215"/>
            <a:ext cx="335313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Капытин Андрей Игоревич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2500" y="9204871"/>
            <a:ext cx="33531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 ИЦТМС 3-4 · 2026 г.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11536" y="8667601"/>
            <a:ext cx="2423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КОЛ-ВО СЛАЙДОВ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911536" y="9048601"/>
            <a:ext cx="242396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3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2162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мониторинг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52500" y="3564136"/>
            <a:ext cx="3959870" cy="2472482"/>
          </a:xfrm>
          <a:prstGeom prst="roundRect">
            <a:avLst>
              <a:gd name="adj" fmla="val 1541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3025" y="3954661"/>
            <a:ext cx="32741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3025" y="4449961"/>
            <a:ext cx="3274185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43025" y="5006132"/>
            <a:ext cx="327418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Узкие места: CPU, RAM, I/O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79070" y="3564136"/>
            <a:ext cx="3874294" cy="2472482"/>
          </a:xfrm>
          <a:prstGeom prst="roundRect">
            <a:avLst>
              <a:gd name="adj" fmla="val 1541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69595" y="3954661"/>
            <a:ext cx="3186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69595" y="4449961"/>
            <a:ext cx="3186041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69595" y="5006132"/>
            <a:ext cx="318604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Зависшие и аномальные процессы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20064" y="3564136"/>
            <a:ext cx="3874294" cy="2472482"/>
          </a:xfrm>
          <a:prstGeom prst="roundRect">
            <a:avLst>
              <a:gd name="adj" fmla="val 1541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10589" y="3954661"/>
            <a:ext cx="3186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10589" y="4449961"/>
            <a:ext cx="3186041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ресурсов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10589" y="5006132"/>
            <a:ext cx="318604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Память, диски, сеть, температура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461057" y="3564136"/>
            <a:ext cx="3874443" cy="2472482"/>
          </a:xfrm>
          <a:prstGeom prst="roundRect">
            <a:avLst>
              <a:gd name="adj" fmla="val 1541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51582" y="3954661"/>
            <a:ext cx="31861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851582" y="4449961"/>
            <a:ext cx="3186194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851582" y="5006132"/>
            <a:ext cx="318619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Подозрительная активность, нагрузка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2500" y="9138345"/>
            <a:ext cx="1687449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— постоянный фон работы системы, а не разовая операция.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52500" y="9734550"/>
            <a:ext cx="15405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/ 02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18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2162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инструмента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52500" y="3640336"/>
            <a:ext cx="5232350" cy="4381500"/>
          </a:xfrm>
          <a:prstGeom prst="roundRect">
            <a:avLst>
              <a:gd name="adj" fmla="val 870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9225" y="4107061"/>
            <a:ext cx="4427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9225" y="4640461"/>
            <a:ext cx="442786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419225" y="5440561"/>
            <a:ext cx="4427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статуса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19225" y="6050161"/>
            <a:ext cx="42989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12" name="Text 10"/>
          <p:cNvSpPr/>
          <p:nvPr/>
        </p:nvSpPr>
        <p:spPr>
          <a:xfrm>
            <a:off x="1419225" y="6402586"/>
            <a:ext cx="4427867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Тонкая полоса с виджетами поверх рабочего стола.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19225" y="7383661"/>
            <a:ext cx="44278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· MIT · X11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27750" y="3640336"/>
            <a:ext cx="5232350" cy="4381500"/>
          </a:xfrm>
          <a:prstGeom prst="roundRect">
            <a:avLst>
              <a:gd name="adj" fmla="val 870"/>
            </a:avLst>
          </a:prstGeom>
          <a:solidFill>
            <a:srgbClr val="16181D"/>
          </a:solidFill>
          <a:ln w="9525">
            <a:solidFill>
              <a:srgbClr val="88C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4475" y="4107061"/>
            <a:ext cx="4427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94475" y="4640461"/>
            <a:ext cx="442786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994475" y="5440561"/>
            <a:ext cx="4427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94475" y="6050161"/>
            <a:ext cx="42989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19" name="Text 17"/>
          <p:cNvSpPr/>
          <p:nvPr/>
        </p:nvSpPr>
        <p:spPr>
          <a:xfrm>
            <a:off x="6994475" y="6402586"/>
            <a:ext cx="4427867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Интерактивный диспетчер задач в терминале.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994475" y="7383661"/>
            <a:ext cx="44278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GPL · TUI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103001" y="3640336"/>
            <a:ext cx="5232350" cy="4381500"/>
          </a:xfrm>
          <a:prstGeom prst="roundRect">
            <a:avLst>
              <a:gd name="adj" fmla="val 870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569726" y="4107061"/>
            <a:ext cx="4427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569726" y="4640461"/>
            <a:ext cx="442786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2569726" y="5440561"/>
            <a:ext cx="4427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комплексный мониторинг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569726" y="6050161"/>
            <a:ext cx="42989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26" name="Text 24"/>
          <p:cNvSpPr/>
          <p:nvPr/>
        </p:nvSpPr>
        <p:spPr>
          <a:xfrm>
            <a:off x="12569726" y="6402586"/>
            <a:ext cx="4427867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в одном экране плюс веб-интерфейс и REST API.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2569726" y="7383661"/>
            <a:ext cx="44278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LGPL · TUI / Web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2500" y="9734550"/>
            <a:ext cx="15405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/ 03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18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0737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 / Что это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52500" y="3335536"/>
            <a:ext cx="86060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PANEL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754636"/>
            <a:ext cx="8355360" cy="571500"/>
          </a:xfrm>
          <a:prstGeom prst="roundRect">
            <a:avLst>
              <a:gd name="adj" fmla="val 6667"/>
            </a:avLst>
          </a:prstGeom>
          <a:solidFill>
            <a:srgbClr val="2E3440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81100" y="3902273"/>
            <a:ext cx="322511" cy="276225"/>
          </a:xfrm>
          <a:prstGeom prst="roundRect">
            <a:avLst>
              <a:gd name="adj" fmla="val 10345"/>
            </a:avLst>
          </a:prstGeom>
          <a:solidFill>
            <a:srgbClr val="5E81AC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3940373"/>
            <a:ext cx="1701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808411" y="3940373"/>
            <a:ext cx="1701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6F7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321421" y="3940373"/>
            <a:ext cx="1701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6F7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34432" y="3940373"/>
            <a:ext cx="1701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6F7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01777" y="3930848"/>
            <a:ext cx="11614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/ dev / arch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46166" y="3930848"/>
            <a:ext cx="80694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14%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67413" y="3930848"/>
            <a:ext cx="95339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 3.2G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35105" y="3930848"/>
            <a:ext cx="5817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60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31175" y="3930848"/>
            <a:ext cx="7646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 87%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10154" y="3930848"/>
            <a:ext cx="5453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21:42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2500" y="4516636"/>
            <a:ext cx="8355360" cy="3429000"/>
          </a:xfrm>
          <a:prstGeom prst="roundRect">
            <a:avLst>
              <a:gd name="adj" fmla="val 1111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0968" y="5740598"/>
            <a:ext cx="14384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843588" y="6073973"/>
            <a:ext cx="457303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панель polybar поверх рабочего стола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427934" y="6454973"/>
            <a:ext cx="14044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1920 × 60 px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69860" y="338316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2051060" y="3335536"/>
            <a:ext cx="5804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069860" y="389751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ЛИЦЕНЗИЯ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051060" y="3849886"/>
            <a:ext cx="5616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069860" y="441186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051060" y="4364236"/>
            <a:ext cx="4536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bar для i3 / bspwm / awesome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069860" y="492621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2051060" y="4878586"/>
            <a:ext cx="5310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X11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0069860" y="5640586"/>
            <a:ext cx="7265491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33" name="Text 31"/>
          <p:cNvSpPr/>
          <p:nvPr/>
        </p:nvSpPr>
        <p:spPr>
          <a:xfrm>
            <a:off x="9869835" y="6107311"/>
            <a:ext cx="7541716" cy="249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производительность — нативный код, минимум зависимостей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Конфигурация в одном INI-файле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Модульная архитектура: модули + кастомные скрипты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952500" y="9734550"/>
            <a:ext cx="13038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 / 04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18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0737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 / Возможности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52500" y="3411736"/>
            <a:ext cx="3924300" cy="1748730"/>
          </a:xfrm>
          <a:prstGeom prst="roundRect">
            <a:avLst>
              <a:gd name="adj" fmla="val 2179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3726061"/>
            <a:ext cx="33945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i3 / bspwm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6825" y="4145161"/>
            <a:ext cx="33945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Рабочие столы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66825" y="4526161"/>
            <a:ext cx="33945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Активный workspace, иконки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05400" y="3411736"/>
            <a:ext cx="3924300" cy="1748730"/>
          </a:xfrm>
          <a:prstGeom prst="roundRect">
            <a:avLst>
              <a:gd name="adj" fmla="val 2179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9725" y="3726061"/>
            <a:ext cx="33945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19725" y="4145161"/>
            <a:ext cx="33945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и время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19725" y="4526161"/>
            <a:ext cx="33945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strftime-форматы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58300" y="3411736"/>
            <a:ext cx="3924300" cy="1748730"/>
          </a:xfrm>
          <a:prstGeom prst="roundRect">
            <a:avLst>
              <a:gd name="adj" fmla="val 2179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72625" y="3726061"/>
            <a:ext cx="33945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/ mem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72625" y="4145161"/>
            <a:ext cx="33945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72625" y="4526161"/>
            <a:ext cx="33945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Проценты, графики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411200" y="3411736"/>
            <a:ext cx="3924300" cy="1748730"/>
          </a:xfrm>
          <a:prstGeom prst="roundRect">
            <a:avLst>
              <a:gd name="adj" fmla="val 2179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25525" y="3726061"/>
            <a:ext cx="33945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25525" y="4145161"/>
            <a:ext cx="33945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Аккумулятор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725525" y="4526161"/>
            <a:ext cx="33945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и состояние зарядки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5389066"/>
            <a:ext cx="3924300" cy="1748730"/>
          </a:xfrm>
          <a:prstGeom prst="roundRect">
            <a:avLst>
              <a:gd name="adj" fmla="val 2179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6825" y="5703391"/>
            <a:ext cx="33945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pulseaudio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66825" y="6122491"/>
            <a:ext cx="33945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Громкость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66825" y="6503491"/>
            <a:ext cx="33945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Колесо мыши, mute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105400" y="5389066"/>
            <a:ext cx="3924300" cy="1748730"/>
          </a:xfrm>
          <a:prstGeom prst="roundRect">
            <a:avLst>
              <a:gd name="adj" fmla="val 2179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9725" y="5703391"/>
            <a:ext cx="33945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19725" y="6122491"/>
            <a:ext cx="33945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5419725" y="6503491"/>
            <a:ext cx="33945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SSID, скорость, IP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58300" y="5389066"/>
            <a:ext cx="3924300" cy="1748730"/>
          </a:xfrm>
          <a:prstGeom prst="roundRect">
            <a:avLst>
              <a:gd name="adj" fmla="val 2179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2625" y="5703391"/>
            <a:ext cx="33945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72625" y="6122491"/>
            <a:ext cx="33945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Температура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572625" y="6503491"/>
            <a:ext cx="33945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Датчики lm_sensors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3411200" y="5389066"/>
            <a:ext cx="3924300" cy="1748730"/>
          </a:xfrm>
          <a:prstGeom prst="roundRect">
            <a:avLst>
              <a:gd name="adj" fmla="val 2179"/>
            </a:avLst>
          </a:prstGeom>
          <a:solidFill>
            <a:srgbClr val="16181D"/>
          </a:solidFill>
          <a:ln w="9525">
            <a:solidFill>
              <a:srgbClr val="88C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25525" y="5703391"/>
            <a:ext cx="33945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custom/script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725525" y="6122491"/>
            <a:ext cx="33945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 скрипт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3725525" y="6503491"/>
            <a:ext cx="33945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Любой shell-вывод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52500" y="7671197"/>
            <a:ext cx="1687449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Десятки модулей из коробки. </a:t>
            </a:r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custom/script </a:t>
            </a:r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расширяет панель до бесконечности.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52500" y="9734550"/>
            <a:ext cx="13038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 / 05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18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0737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 / Эксперимент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52500" y="2840236"/>
            <a:ext cx="1687449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Тёмная полупрозрачная тема Nord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3684091"/>
            <a:ext cx="82017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ДО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4084141"/>
            <a:ext cx="7962900" cy="571500"/>
          </a:xfrm>
          <a:prstGeom prst="roundRect">
            <a:avLst>
              <a:gd name="adj" fmla="val 6667"/>
            </a:avLst>
          </a:prstGeom>
          <a:solidFill>
            <a:srgbClr val="1F2329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0625" y="4260354"/>
            <a:ext cx="64814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1 2 3 4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0666" y="4260354"/>
            <a:ext cx="19928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mem net bat 21:42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52500" y="4808041"/>
            <a:ext cx="7962900" cy="2095500"/>
          </a:xfrm>
          <a:prstGeom prst="roundRect">
            <a:avLst>
              <a:gd name="adj" fmla="val 1818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14664" y="5565279"/>
            <a:ext cx="14384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645" y="5898654"/>
            <a:ext cx="2644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Дефолтная панель polybar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372600" y="3684091"/>
            <a:ext cx="82017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ПОСЛЕ · NORD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72600" y="4084141"/>
            <a:ext cx="7962900" cy="571500"/>
          </a:xfrm>
          <a:prstGeom prst="roundRect">
            <a:avLst>
              <a:gd name="adj" fmla="val 6667"/>
            </a:avLst>
          </a:prstGeom>
          <a:solidFill>
            <a:srgbClr val="2E3440">
              <a:alpha val="9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0" y="4231779"/>
            <a:ext cx="322511" cy="276225"/>
          </a:xfrm>
          <a:prstGeom prst="roundRect">
            <a:avLst>
              <a:gd name="adj" fmla="val 10345"/>
            </a:avLst>
          </a:prstGeom>
          <a:solidFill>
            <a:srgbClr val="5E81AC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4269879"/>
            <a:ext cx="1701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EC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228511" y="4269879"/>
            <a:ext cx="1701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6F7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741521" y="4269879"/>
            <a:ext cx="1701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6F7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076509" y="4260354"/>
            <a:ext cx="6427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/ dev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69876" y="4260354"/>
            <a:ext cx="80694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14%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91122" y="4260354"/>
            <a:ext cx="95339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 3.2G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758815" y="4260354"/>
            <a:ext cx="7646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 87%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637794" y="4260354"/>
            <a:ext cx="5453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21:42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72600" y="4808041"/>
            <a:ext cx="7962900" cy="2095500"/>
          </a:xfrm>
          <a:prstGeom prst="roundRect">
            <a:avLst>
              <a:gd name="adj" fmla="val 1818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34764" y="5565279"/>
            <a:ext cx="14384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986064" y="5898654"/>
            <a:ext cx="27359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Кастомизированная панель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52500" y="7246441"/>
            <a:ext cx="16383000" cy="1964829"/>
          </a:xfrm>
          <a:prstGeom prst="roundRect">
            <a:avLst>
              <a:gd name="adj" fmla="val 2909"/>
            </a:avLst>
          </a:prstGeom>
          <a:solidFill>
            <a:srgbClr val="0A0B0E"/>
          </a:solidFill>
          <a:ln w="9525">
            <a:solidFill>
              <a:srgbClr val="2A2D35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2025" y="7255966"/>
            <a:ext cx="16363950" cy="438150"/>
          </a:xfrm>
          <a:prstGeom prst="rect">
            <a:avLst/>
          </a:prstGeom>
          <a:solidFill>
            <a:srgbClr val="1A1C22"/>
          </a:solidFill>
          <a:ln/>
        </p:spPr>
      </p:sp>
      <p:sp>
        <p:nvSpPr>
          <p:cNvPr id="31" name="Shape 29"/>
          <p:cNvSpPr/>
          <p:nvPr/>
        </p:nvSpPr>
        <p:spPr>
          <a:xfrm>
            <a:off x="962025" y="7684591"/>
            <a:ext cx="1636395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32" name="Shape 30"/>
          <p:cNvSpPr/>
          <p:nvPr/>
        </p:nvSpPr>
        <p:spPr>
          <a:xfrm>
            <a:off x="1114425" y="74131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304925" y="74131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34" name="Shape 32"/>
          <p:cNvSpPr/>
          <p:nvPr/>
        </p:nvSpPr>
        <p:spPr>
          <a:xfrm>
            <a:off x="1495425" y="74131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35" name="Text 33"/>
          <p:cNvSpPr/>
          <p:nvPr/>
        </p:nvSpPr>
        <p:spPr>
          <a:xfrm>
            <a:off x="1453610" y="7370266"/>
            <a:ext cx="1595228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68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~/.config/polybar/config.ini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266825" y="7960816"/>
            <a:ext cx="16245268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[bar/mybar]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100%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32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#ee2e3440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#d8dee9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font-0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"JetBrains Mono:size=10;2"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modules-left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i3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modules-right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cpu mem battery date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52500" y="9734550"/>
            <a:ext cx="13038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 / 06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18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0737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 / Итог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52500" y="3640336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ПЛЮСЫ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52500" y="4135636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" y="4135636"/>
            <a:ext cx="364469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— нативный C++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" y="4692848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33500" y="4692848"/>
            <a:ext cx="292651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Понятный INI-конфиг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" y="5250061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3500" y="5250061"/>
            <a:ext cx="288006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Богатая модульность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52500" y="5807273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33500" y="5807273"/>
            <a:ext cx="399956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Активное сообщество и темы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2500" y="6364486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333500" y="6364486"/>
            <a:ext cx="383661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Низкое потребление памяти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525000" y="3640336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МИНУСЫ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25000" y="4135636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906000" y="4135636"/>
            <a:ext cx="332906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X11, без Wayland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525000" y="4692848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906000" y="4692848"/>
            <a:ext cx="32597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GUI-конфигуратора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525000" y="5250061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906000" y="5250061"/>
            <a:ext cx="463879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входа: править INI вручную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525000" y="5807273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906000" y="5807273"/>
            <a:ext cx="455709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Документация частично устарела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52500" y="9734550"/>
            <a:ext cx="13038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 / 07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18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6462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 / Что это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52500" y="3335536"/>
            <a:ext cx="8562082" cy="4527352"/>
          </a:xfrm>
          <a:prstGeom prst="roundRect">
            <a:avLst>
              <a:gd name="adj" fmla="val 1262"/>
            </a:avLst>
          </a:prstGeom>
          <a:solidFill>
            <a:srgbClr val="0A0B0E"/>
          </a:solidFill>
          <a:ln w="9525">
            <a:solidFill>
              <a:srgbClr val="2A2D35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2025" y="3345061"/>
            <a:ext cx="8543032" cy="438150"/>
          </a:xfrm>
          <a:prstGeom prst="rect">
            <a:avLst/>
          </a:prstGeom>
          <a:solidFill>
            <a:srgbClr val="1A1C22"/>
          </a:solidFill>
          <a:ln/>
        </p:spPr>
      </p:sp>
      <p:sp>
        <p:nvSpPr>
          <p:cNvPr id="9" name="Shape 7"/>
          <p:cNvSpPr/>
          <p:nvPr/>
        </p:nvSpPr>
        <p:spPr>
          <a:xfrm>
            <a:off x="962025" y="3773686"/>
            <a:ext cx="8543032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10" name="Shape 8"/>
          <p:cNvSpPr/>
          <p:nvPr/>
        </p:nvSpPr>
        <p:spPr>
          <a:xfrm>
            <a:off x="1114425" y="3502223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11" name="Shape 9"/>
          <p:cNvSpPr/>
          <p:nvPr/>
        </p:nvSpPr>
        <p:spPr>
          <a:xfrm>
            <a:off x="1304925" y="3502223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495425" y="3502223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13" name="Text 11"/>
          <p:cNvSpPr/>
          <p:nvPr/>
        </p:nvSpPr>
        <p:spPr>
          <a:xfrm>
            <a:off x="1570924" y="3459361"/>
            <a:ext cx="789673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68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66825" y="4049911"/>
            <a:ext cx="6477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838325" y="4088011"/>
            <a:ext cx="1329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895029" y="4088011"/>
            <a:ext cx="5524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|||||||||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371279" y="4088011"/>
            <a:ext cx="28798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E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||||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583061" y="4088011"/>
            <a:ext cx="110013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···············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606998" y="4088011"/>
            <a:ext cx="1329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3720405" y="4088011"/>
            <a:ext cx="6628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42.3%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66825" y="4374654"/>
            <a:ext cx="6477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838325" y="4412754"/>
            <a:ext cx="1329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895029" y="4412754"/>
            <a:ext cx="39379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||||||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212628" y="4412754"/>
            <a:ext cx="164618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·······················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3782616" y="4412754"/>
            <a:ext cx="1329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3896023" y="4412754"/>
            <a:ext cx="6628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66825" y="4699397"/>
            <a:ext cx="6477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838325" y="4737497"/>
            <a:ext cx="1329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895029" y="4737497"/>
            <a:ext cx="76408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|||||||||||||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2582912" y="4737497"/>
            <a:ext cx="4466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E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|||||||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2953345" y="4737497"/>
            <a:ext cx="7588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··········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3636020" y="4737497"/>
            <a:ext cx="1329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3749427" y="4737497"/>
            <a:ext cx="6628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66.1%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266825" y="5024140"/>
            <a:ext cx="6477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838325" y="5062240"/>
            <a:ext cx="1329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895029" y="5062240"/>
            <a:ext cx="28798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||||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2106811" y="5062240"/>
            <a:ext cx="10318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··············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3062436" y="5062240"/>
            <a:ext cx="1329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3175843" y="5062240"/>
            <a:ext cx="64725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266825" y="5348883"/>
            <a:ext cx="6477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838325" y="5386983"/>
            <a:ext cx="1329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895029" y="5386983"/>
            <a:ext cx="8170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||||||||||||||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2635895" y="5386983"/>
            <a:ext cx="96366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·············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3523357" y="5386983"/>
            <a:ext cx="1329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3636764" y="5386983"/>
            <a:ext cx="97274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3.2G/16G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266825" y="5673626"/>
            <a:ext cx="6477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Swp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838325" y="5711726"/>
            <a:ext cx="1329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895029" y="5711726"/>
            <a:ext cx="219223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·······························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4011067" y="5711726"/>
            <a:ext cx="1329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4124474" y="5711726"/>
            <a:ext cx="5244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0/2G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266825" y="6169819"/>
            <a:ext cx="81714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USER PRI NI VIRT RES %CPU %MEM COMMAND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66825" y="6524030"/>
            <a:ext cx="8171435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1842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andrey 20 0 892M 201M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E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firefox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2104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andrey 20 0 512M 132M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 code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2390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andrey 20 0 128M 48M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 polybar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0200382" y="338316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2181582" y="3335536"/>
            <a:ext cx="24395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Hisham Muhammad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10200382" y="389751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2181582" y="3849886"/>
            <a:ext cx="6695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10200382" y="441186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2181582" y="4364236"/>
            <a:ext cx="6694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3.4.1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10200382" y="492621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2181582" y="4878586"/>
            <a:ext cx="10993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htop.dev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10200382" y="544056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ЛИЦЕНЗИЯ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2181582" y="5392936"/>
            <a:ext cx="10694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GPL-2.0</a:t>
            </a:r>
            <a:endParaRPr lang="en-US" sz="2100" dirty="0"/>
          </a:p>
        </p:txBody>
      </p:sp>
      <p:sp>
        <p:nvSpPr>
          <p:cNvPr id="63" name="Shape 61"/>
          <p:cNvSpPr/>
          <p:nvPr/>
        </p:nvSpPr>
        <p:spPr>
          <a:xfrm>
            <a:off x="10200382" y="6154936"/>
            <a:ext cx="7135118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64" name="Text 62"/>
          <p:cNvSpPr/>
          <p:nvPr/>
        </p:nvSpPr>
        <p:spPr>
          <a:xfrm>
            <a:off x="10200382" y="6621661"/>
            <a:ext cx="73491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spc="-49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</a:t>
            </a:r>
            <a:pPr algn="l" indent="0" marL="0">
              <a:lnSpc>
                <a:spcPct val="120000"/>
              </a:lnSpc>
              <a:buNone/>
            </a:pPr>
            <a:r>
              <a:rPr lang="en-US" sz="3300" spc="-49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с цветами, мышью и деревом процессов</a:t>
            </a:r>
            <a:pPr algn="l" indent="0" marL="0">
              <a:lnSpc>
                <a:spcPct val="120000"/>
              </a:lnSpc>
              <a:buNone/>
            </a:pPr>
            <a:r>
              <a:rPr lang="en-US" sz="3300" spc="-49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3300" dirty="0"/>
          </a:p>
        </p:txBody>
      </p:sp>
      <p:sp>
        <p:nvSpPr>
          <p:cNvPr id="65" name="Text 63"/>
          <p:cNvSpPr/>
          <p:nvPr/>
        </p:nvSpPr>
        <p:spPr>
          <a:xfrm>
            <a:off x="952500" y="9734550"/>
            <a:ext cx="986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 / 08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18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6462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 / Возможности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52500" y="3411736"/>
            <a:ext cx="83213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Древовидный режим — связи родитель → потомок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4040386"/>
            <a:ext cx="83213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 по любому столбцу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4669036"/>
            <a:ext cx="83213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Фильтрация и поиск процессов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19200" y="5335786"/>
            <a:ext cx="268140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Отправка сигналов: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013002" y="5297686"/>
            <a:ext cx="140612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SIGTERM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533430" y="5335786"/>
            <a:ext cx="1541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801916" y="5297686"/>
            <a:ext cx="121250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SIGKILL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128718" y="5335786"/>
            <a:ext cx="7127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др.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2500" y="5926336"/>
            <a:ext cx="83213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Кросс-платформенность: Linux, BSD, macOS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641086" y="3259336"/>
            <a:ext cx="79250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ГОРЯЧИЕ КЛАВИШИ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41086" y="3792736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1C1F26"/>
          </a:solidFill>
          <a:ln/>
        </p:spPr>
      </p:sp>
      <p:sp>
        <p:nvSpPr>
          <p:cNvPr id="18" name="Shape 16"/>
          <p:cNvSpPr/>
          <p:nvPr/>
        </p:nvSpPr>
        <p:spPr>
          <a:xfrm>
            <a:off x="9641086" y="4516636"/>
            <a:ext cx="762000" cy="38100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19" name="Shape 17"/>
          <p:cNvSpPr/>
          <p:nvPr/>
        </p:nvSpPr>
        <p:spPr>
          <a:xfrm>
            <a:off x="9641086" y="3792736"/>
            <a:ext cx="762000" cy="9525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20" name="Shape 18"/>
          <p:cNvSpPr/>
          <p:nvPr/>
        </p:nvSpPr>
        <p:spPr>
          <a:xfrm>
            <a:off x="9641086" y="3792736"/>
            <a:ext cx="9525" cy="762000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93561" y="3792736"/>
            <a:ext cx="9525" cy="762000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22" name="Text 20"/>
          <p:cNvSpPr/>
          <p:nvPr/>
        </p:nvSpPr>
        <p:spPr>
          <a:xfrm>
            <a:off x="9764911" y="3802261"/>
            <a:ext cx="51435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631686" y="3980408"/>
            <a:ext cx="6904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— настройка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641086" y="4726186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1C1F26"/>
          </a:solidFill>
          <a:ln/>
        </p:spPr>
      </p:sp>
      <p:sp>
        <p:nvSpPr>
          <p:cNvPr id="25" name="Shape 23"/>
          <p:cNvSpPr/>
          <p:nvPr/>
        </p:nvSpPr>
        <p:spPr>
          <a:xfrm>
            <a:off x="9641086" y="5450086"/>
            <a:ext cx="762000" cy="38100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26" name="Shape 24"/>
          <p:cNvSpPr/>
          <p:nvPr/>
        </p:nvSpPr>
        <p:spPr>
          <a:xfrm>
            <a:off x="9641086" y="4726186"/>
            <a:ext cx="762000" cy="9525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27" name="Shape 25"/>
          <p:cNvSpPr/>
          <p:nvPr/>
        </p:nvSpPr>
        <p:spPr>
          <a:xfrm>
            <a:off x="9641086" y="4726186"/>
            <a:ext cx="9525" cy="762000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93561" y="4726186"/>
            <a:ext cx="9525" cy="762000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29" name="Text 27"/>
          <p:cNvSpPr/>
          <p:nvPr/>
        </p:nvSpPr>
        <p:spPr>
          <a:xfrm>
            <a:off x="9764911" y="4735711"/>
            <a:ext cx="51435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631686" y="4913858"/>
            <a:ext cx="6904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— поиск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641086" y="5659636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1C1F26"/>
          </a:solidFill>
          <a:ln/>
        </p:spPr>
      </p:sp>
      <p:sp>
        <p:nvSpPr>
          <p:cNvPr id="32" name="Shape 30"/>
          <p:cNvSpPr/>
          <p:nvPr/>
        </p:nvSpPr>
        <p:spPr>
          <a:xfrm>
            <a:off x="9641086" y="6383536"/>
            <a:ext cx="762000" cy="38100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33" name="Shape 31"/>
          <p:cNvSpPr/>
          <p:nvPr/>
        </p:nvSpPr>
        <p:spPr>
          <a:xfrm>
            <a:off x="9641086" y="5659636"/>
            <a:ext cx="762000" cy="9525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34" name="Shape 32"/>
          <p:cNvSpPr/>
          <p:nvPr/>
        </p:nvSpPr>
        <p:spPr>
          <a:xfrm>
            <a:off x="9641086" y="5659636"/>
            <a:ext cx="9525" cy="762000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93561" y="5659636"/>
            <a:ext cx="9525" cy="762000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36" name="Text 34"/>
          <p:cNvSpPr/>
          <p:nvPr/>
        </p:nvSpPr>
        <p:spPr>
          <a:xfrm>
            <a:off x="9764911" y="5669161"/>
            <a:ext cx="51435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0631686" y="5847308"/>
            <a:ext cx="6904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— фильтр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641086" y="6593086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1C1F26"/>
          </a:solidFill>
          <a:ln/>
        </p:spPr>
      </p:sp>
      <p:sp>
        <p:nvSpPr>
          <p:cNvPr id="39" name="Shape 37"/>
          <p:cNvSpPr/>
          <p:nvPr/>
        </p:nvSpPr>
        <p:spPr>
          <a:xfrm>
            <a:off x="9641086" y="7316986"/>
            <a:ext cx="762000" cy="38100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40" name="Shape 38"/>
          <p:cNvSpPr/>
          <p:nvPr/>
        </p:nvSpPr>
        <p:spPr>
          <a:xfrm>
            <a:off x="9641086" y="6593086"/>
            <a:ext cx="762000" cy="9525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41" name="Shape 39"/>
          <p:cNvSpPr/>
          <p:nvPr/>
        </p:nvSpPr>
        <p:spPr>
          <a:xfrm>
            <a:off x="9641086" y="6593086"/>
            <a:ext cx="9525" cy="762000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42" name="Shape 40"/>
          <p:cNvSpPr/>
          <p:nvPr/>
        </p:nvSpPr>
        <p:spPr>
          <a:xfrm>
            <a:off x="10393561" y="6593086"/>
            <a:ext cx="9525" cy="762000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43" name="Text 41"/>
          <p:cNvSpPr/>
          <p:nvPr/>
        </p:nvSpPr>
        <p:spPr>
          <a:xfrm>
            <a:off x="9764911" y="6602611"/>
            <a:ext cx="51435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631686" y="6780758"/>
            <a:ext cx="6904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— дерево процессов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9641086" y="7526536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1C1F26"/>
          </a:solidFill>
          <a:ln/>
        </p:spPr>
      </p:sp>
      <p:sp>
        <p:nvSpPr>
          <p:cNvPr id="46" name="Shape 44"/>
          <p:cNvSpPr/>
          <p:nvPr/>
        </p:nvSpPr>
        <p:spPr>
          <a:xfrm>
            <a:off x="9641086" y="8250436"/>
            <a:ext cx="762000" cy="38100"/>
          </a:xfrm>
          <a:prstGeom prst="rect">
            <a:avLst/>
          </a:prstGeom>
          <a:solidFill>
            <a:srgbClr val="BF616A"/>
          </a:solidFill>
          <a:ln/>
        </p:spPr>
      </p:sp>
      <p:sp>
        <p:nvSpPr>
          <p:cNvPr id="47" name="Shape 45"/>
          <p:cNvSpPr/>
          <p:nvPr/>
        </p:nvSpPr>
        <p:spPr>
          <a:xfrm>
            <a:off x="9641086" y="7526536"/>
            <a:ext cx="762000" cy="9525"/>
          </a:xfrm>
          <a:prstGeom prst="rect">
            <a:avLst/>
          </a:prstGeom>
          <a:solidFill>
            <a:srgbClr val="BF616A"/>
          </a:solidFill>
          <a:ln/>
        </p:spPr>
      </p:sp>
      <p:sp>
        <p:nvSpPr>
          <p:cNvPr id="48" name="Shape 46"/>
          <p:cNvSpPr/>
          <p:nvPr/>
        </p:nvSpPr>
        <p:spPr>
          <a:xfrm>
            <a:off x="9641086" y="7526536"/>
            <a:ext cx="9525" cy="762000"/>
          </a:xfrm>
          <a:prstGeom prst="rect">
            <a:avLst/>
          </a:prstGeom>
          <a:solidFill>
            <a:srgbClr val="BF616A"/>
          </a:solidFill>
          <a:ln/>
        </p:spPr>
      </p:sp>
      <p:sp>
        <p:nvSpPr>
          <p:cNvPr id="49" name="Shape 47"/>
          <p:cNvSpPr/>
          <p:nvPr/>
        </p:nvSpPr>
        <p:spPr>
          <a:xfrm>
            <a:off x="10393561" y="7526536"/>
            <a:ext cx="9525" cy="762000"/>
          </a:xfrm>
          <a:prstGeom prst="rect">
            <a:avLst/>
          </a:prstGeom>
          <a:solidFill>
            <a:srgbClr val="BF616A"/>
          </a:solidFill>
          <a:ln/>
        </p:spPr>
      </p:sp>
      <p:sp>
        <p:nvSpPr>
          <p:cNvPr id="50" name="Text 48"/>
          <p:cNvSpPr/>
          <p:nvPr/>
        </p:nvSpPr>
        <p:spPr>
          <a:xfrm>
            <a:off x="9764911" y="7536061"/>
            <a:ext cx="51435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F9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0631686" y="7714208"/>
            <a:ext cx="6904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— отправить сигнал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52500" y="9734550"/>
            <a:ext cx="986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 / 09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18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6462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 / Эксперимент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52500" y="2840236"/>
            <a:ext cx="1687449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Завершение зависшего процесса в три шага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3760291"/>
            <a:ext cx="71631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745010" y="4017466"/>
            <a:ext cx="141357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4617541"/>
            <a:ext cx="5283101" cy="1640086"/>
          </a:xfrm>
          <a:prstGeom prst="roundRect">
            <a:avLst>
              <a:gd name="adj" fmla="val 3485"/>
            </a:avLst>
          </a:prstGeom>
          <a:solidFill>
            <a:srgbClr val="0A0B0E"/>
          </a:solidFill>
          <a:ln w="9525">
            <a:solidFill>
              <a:srgbClr val="2A2D35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2025" y="4627066"/>
            <a:ext cx="5264051" cy="438150"/>
          </a:xfrm>
          <a:prstGeom prst="rect">
            <a:avLst/>
          </a:prstGeom>
          <a:solidFill>
            <a:srgbClr val="1A1C22"/>
          </a:solidFill>
          <a:ln/>
        </p:spPr>
      </p:sp>
      <p:sp>
        <p:nvSpPr>
          <p:cNvPr id="12" name="Shape 10"/>
          <p:cNvSpPr/>
          <p:nvPr/>
        </p:nvSpPr>
        <p:spPr>
          <a:xfrm>
            <a:off x="962025" y="5055691"/>
            <a:ext cx="5264051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4425" y="47842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14" name="Shape 12"/>
          <p:cNvSpPr/>
          <p:nvPr/>
        </p:nvSpPr>
        <p:spPr>
          <a:xfrm>
            <a:off x="1304925" y="47842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15" name="Shape 13"/>
          <p:cNvSpPr/>
          <p:nvPr/>
        </p:nvSpPr>
        <p:spPr>
          <a:xfrm>
            <a:off x="1495425" y="47842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20109" y="4741366"/>
            <a:ext cx="45193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68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66825" y="5331916"/>
            <a:ext cx="4812372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9999 &amp; </a:t>
            </a:r>
            <a:pPr algn="l" indent="0" marL="0">
              <a:lnSpc>
                <a:spcPct val="155000"/>
              </a:lnSpc>
              <a:buNone/>
            </a:pPr>
            <a:r>
              <a:rPr lang="en-US" sz="16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4271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52500" y="6410027"/>
            <a:ext cx="54415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Создаём процесс-«висяк» с PID 4271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02301" y="3760291"/>
            <a:ext cx="71631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7294811" y="4017466"/>
            <a:ext cx="87109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502301" y="4617541"/>
            <a:ext cx="5283250" cy="2053233"/>
          </a:xfrm>
          <a:prstGeom prst="roundRect">
            <a:avLst>
              <a:gd name="adj" fmla="val 2783"/>
            </a:avLst>
          </a:prstGeom>
          <a:solidFill>
            <a:srgbClr val="0A0B0E"/>
          </a:solidFill>
          <a:ln w="9525">
            <a:solidFill>
              <a:srgbClr val="2A2D35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1826" y="4627066"/>
            <a:ext cx="5264200" cy="438150"/>
          </a:xfrm>
          <a:prstGeom prst="rect">
            <a:avLst/>
          </a:prstGeom>
          <a:solidFill>
            <a:srgbClr val="1A1C22"/>
          </a:solidFill>
          <a:ln/>
        </p:spPr>
      </p:sp>
      <p:sp>
        <p:nvSpPr>
          <p:cNvPr id="23" name="Shape 21"/>
          <p:cNvSpPr/>
          <p:nvPr/>
        </p:nvSpPr>
        <p:spPr>
          <a:xfrm>
            <a:off x="6511826" y="5055691"/>
            <a:ext cx="52642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24" name="Shape 22"/>
          <p:cNvSpPr/>
          <p:nvPr/>
        </p:nvSpPr>
        <p:spPr>
          <a:xfrm>
            <a:off x="6664226" y="47842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4726" y="47842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5226" y="47842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27" name="Text 25"/>
          <p:cNvSpPr/>
          <p:nvPr/>
        </p:nvSpPr>
        <p:spPr>
          <a:xfrm>
            <a:off x="7169907" y="4741366"/>
            <a:ext cx="45195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68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 · F4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16626" y="5331916"/>
            <a:ext cx="4812526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FILTER&gt;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E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4271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andrey 0.0 0.0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9999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02301" y="6823174"/>
            <a:ext cx="544174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 → набираем «sleep», выбираем PID 4271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052250" y="3760291"/>
            <a:ext cx="71631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12844760" y="4017466"/>
            <a:ext cx="15208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Завершить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2052250" y="4617541"/>
            <a:ext cx="5283250" cy="2761655"/>
          </a:xfrm>
          <a:prstGeom prst="roundRect">
            <a:avLst>
              <a:gd name="adj" fmla="val 2069"/>
            </a:avLst>
          </a:prstGeom>
          <a:solidFill>
            <a:srgbClr val="0A0B0E"/>
          </a:solidFill>
          <a:ln w="9525">
            <a:solidFill>
              <a:srgbClr val="2A2D35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2061775" y="4627066"/>
            <a:ext cx="5264200" cy="438150"/>
          </a:xfrm>
          <a:prstGeom prst="rect">
            <a:avLst/>
          </a:prstGeom>
          <a:solidFill>
            <a:srgbClr val="1A1C22"/>
          </a:solidFill>
          <a:ln/>
        </p:spPr>
      </p:sp>
      <p:sp>
        <p:nvSpPr>
          <p:cNvPr id="34" name="Shape 32"/>
          <p:cNvSpPr/>
          <p:nvPr/>
        </p:nvSpPr>
        <p:spPr>
          <a:xfrm>
            <a:off x="12061775" y="5055691"/>
            <a:ext cx="52642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35" name="Shape 33"/>
          <p:cNvSpPr/>
          <p:nvPr/>
        </p:nvSpPr>
        <p:spPr>
          <a:xfrm>
            <a:off x="12214175" y="47842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36" name="Shape 34"/>
          <p:cNvSpPr/>
          <p:nvPr/>
        </p:nvSpPr>
        <p:spPr>
          <a:xfrm>
            <a:off x="12404675" y="47842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37" name="Shape 35"/>
          <p:cNvSpPr/>
          <p:nvPr/>
        </p:nvSpPr>
        <p:spPr>
          <a:xfrm>
            <a:off x="12595175" y="47842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38" name="Text 36"/>
          <p:cNvSpPr/>
          <p:nvPr/>
        </p:nvSpPr>
        <p:spPr>
          <a:xfrm>
            <a:off x="12719857" y="4741366"/>
            <a:ext cx="45195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68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 · F9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2366575" y="5331916"/>
            <a:ext cx="4812526" cy="1809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signal: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SIGTERM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SIGKILL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[1]+ Terminated sleep 9999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052250" y="7531596"/>
            <a:ext cx="544174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F9 → SIGTERM → процесс остановлен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52500" y="9734550"/>
            <a:ext cx="986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 / 10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18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6462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 / Итог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52500" y="3640336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ПЛЮСЫ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52500" y="4135636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" y="4135636"/>
            <a:ext cx="270853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Цветной интерфейс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" y="4692848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33500" y="4692848"/>
            <a:ext cx="322313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мыши в TUI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" y="5250061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3500" y="5250061"/>
            <a:ext cx="402823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процессов и фильтры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52500" y="5807273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33500" y="5807273"/>
            <a:ext cx="392092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Лёгкий — десятки КБ памяти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2500" y="6364486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333500" y="6364486"/>
            <a:ext cx="436471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Доступен по SSH без X-сервера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525000" y="3640336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МИНУСЫ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25000" y="4135636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906000" y="4135636"/>
            <a:ext cx="516030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TUI, нет графического режима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525000" y="4692848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906000" y="4692848"/>
            <a:ext cx="268385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истории метрик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525000" y="5250061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906000" y="5250061"/>
            <a:ext cx="465734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Слабый мониторинг сети и дисков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525000" y="5807273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906000" y="5807273"/>
            <a:ext cx="285922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экспорта данных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52500" y="9734550"/>
            <a:ext cx="97065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 / 11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6485543" y="9734550"/>
            <a:ext cx="92615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18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0737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 / Что это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52500" y="3335536"/>
            <a:ext cx="8562082" cy="4933950"/>
          </a:xfrm>
          <a:prstGeom prst="roundRect">
            <a:avLst>
              <a:gd name="adj" fmla="val 1158"/>
            </a:avLst>
          </a:prstGeom>
          <a:solidFill>
            <a:srgbClr val="0A0B0E"/>
          </a:solidFill>
          <a:ln w="9525">
            <a:solidFill>
              <a:srgbClr val="2A2D35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2025" y="3345061"/>
            <a:ext cx="8543032" cy="438150"/>
          </a:xfrm>
          <a:prstGeom prst="rect">
            <a:avLst/>
          </a:prstGeom>
          <a:solidFill>
            <a:srgbClr val="1A1C22"/>
          </a:solidFill>
          <a:ln/>
        </p:spPr>
      </p:sp>
      <p:sp>
        <p:nvSpPr>
          <p:cNvPr id="9" name="Shape 7"/>
          <p:cNvSpPr/>
          <p:nvPr/>
        </p:nvSpPr>
        <p:spPr>
          <a:xfrm>
            <a:off x="962025" y="3773686"/>
            <a:ext cx="8543032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10" name="Shape 8"/>
          <p:cNvSpPr/>
          <p:nvPr/>
        </p:nvSpPr>
        <p:spPr>
          <a:xfrm>
            <a:off x="1114425" y="3502223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11" name="Shape 9"/>
          <p:cNvSpPr/>
          <p:nvPr/>
        </p:nvSpPr>
        <p:spPr>
          <a:xfrm>
            <a:off x="1304925" y="3502223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495425" y="3502223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13" name="Text 11"/>
          <p:cNvSpPr/>
          <p:nvPr/>
        </p:nvSpPr>
        <p:spPr>
          <a:xfrm>
            <a:off x="1570924" y="3459361"/>
            <a:ext cx="789673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68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66825" y="4049911"/>
            <a:ext cx="8171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 · Linux 6.8 · 4 cores · uptime 4d 12h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66825" y="4507111"/>
            <a:ext cx="8171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|||||||||||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·············] 42%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E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||||||||||||||||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······] 78%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6825" y="4850011"/>
            <a:ext cx="8171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[······················] 0%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1.24 / 0.91 / 0.77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66825" y="5326261"/>
            <a:ext cx="8171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 NETWORK ─────────────────────────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66825" y="5669161"/>
            <a:ext cx="8171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wlan0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1.2 Mb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380 Kb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66825" y="6012061"/>
            <a:ext cx="8171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eno1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6825" y="6488311"/>
            <a:ext cx="8171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 DISK I/O ────────────────────────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6825" y="6831211"/>
            <a:ext cx="8171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nvme0n1 R 18 Mb W 4.2 Mb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66825" y="7307461"/>
            <a:ext cx="8171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 SENSORS ─────────────────────────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66825" y="7650361"/>
            <a:ext cx="8171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cpu_thermal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E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62°C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</a:t>
            </a:r>
            <a:pPr algn="l" indent="0" marL="0">
              <a:lnSpc>
                <a:spcPct val="150000"/>
              </a:lnSpc>
              <a:buNone/>
            </a:pPr>
            <a:r>
              <a:rPr lang="en-US" sz="18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 chr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00382" y="338316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2181582" y="3335536"/>
            <a:ext cx="2004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Nicolas Hennion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200382" y="389751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181582" y="3849886"/>
            <a:ext cx="9065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200382" y="441186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181582" y="4364236"/>
            <a:ext cx="6694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4.5.2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200382" y="492621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ЛИЦЕНЗИЯ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2181582" y="4878586"/>
            <a:ext cx="12178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LGPL-3.0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0200382" y="5640586"/>
            <a:ext cx="7135118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33" name="Text 31"/>
          <p:cNvSpPr/>
          <p:nvPr/>
        </p:nvSpPr>
        <p:spPr>
          <a:xfrm>
            <a:off x="10200382" y="6107311"/>
            <a:ext cx="73491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spc="-49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</a:t>
            </a:r>
            <a:pPr algn="l" indent="0" marL="0">
              <a:lnSpc>
                <a:spcPct val="120000"/>
              </a:lnSpc>
              <a:buNone/>
            </a:pPr>
            <a:r>
              <a:rPr lang="en-US" sz="3300" spc="-49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в одном экране — CPU, RAM, диски, сеть, датчики</a:t>
            </a:r>
            <a:pPr algn="l" indent="0" marL="0">
              <a:lnSpc>
                <a:spcPct val="120000"/>
              </a:lnSpc>
              <a:buNone/>
            </a:pPr>
            <a:r>
              <a:rPr lang="en-US" sz="3300" spc="-49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3300" dirty="0"/>
          </a:p>
        </p:txBody>
      </p:sp>
      <p:sp>
        <p:nvSpPr>
          <p:cNvPr id="34" name="Text 32"/>
          <p:cNvSpPr/>
          <p:nvPr/>
        </p:nvSpPr>
        <p:spPr>
          <a:xfrm>
            <a:off x="952500" y="9734550"/>
            <a:ext cx="13388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 / 12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18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0737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 / Три режима работы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52500" y="3487936"/>
            <a:ext cx="5257800" cy="4572000"/>
          </a:xfrm>
          <a:prstGeom prst="roundRect">
            <a:avLst>
              <a:gd name="adj" fmla="val 833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3025" y="3878461"/>
            <a:ext cx="46110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01 · STANDALONE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3025" y="4373761"/>
            <a:ext cx="46110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Терминал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43025" y="4964311"/>
            <a:ext cx="46110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glances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43025" y="5402461"/>
            <a:ext cx="447675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12" name="Text 10"/>
          <p:cNvSpPr/>
          <p:nvPr/>
        </p:nvSpPr>
        <p:spPr>
          <a:xfrm>
            <a:off x="1343025" y="5678686"/>
            <a:ext cx="461105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локально, всё на одном экране — самый простой режим.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15100" y="3487936"/>
            <a:ext cx="5257800" cy="4572000"/>
          </a:xfrm>
          <a:prstGeom prst="roundRect">
            <a:avLst>
              <a:gd name="adj" fmla="val 833"/>
            </a:avLst>
          </a:prstGeom>
          <a:solidFill>
            <a:srgbClr val="16181D"/>
          </a:solidFill>
          <a:ln w="9525">
            <a:solidFill>
              <a:srgbClr val="88C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5625" y="3878461"/>
            <a:ext cx="46110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02 · WEB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05625" y="4373761"/>
            <a:ext cx="46110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05625" y="4964311"/>
            <a:ext cx="46110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glances -w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05625" y="5211961"/>
            <a:ext cx="46110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http://host:61208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5625" y="5650111"/>
            <a:ext cx="447675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19" name="Text 17"/>
          <p:cNvSpPr/>
          <p:nvPr/>
        </p:nvSpPr>
        <p:spPr>
          <a:xfrm>
            <a:off x="6905625" y="5926336"/>
            <a:ext cx="461105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дашборд в любом браузере, плюс REST API.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077700" y="3487936"/>
            <a:ext cx="5257800" cy="4572000"/>
          </a:xfrm>
          <a:prstGeom prst="roundRect">
            <a:avLst>
              <a:gd name="adj" fmla="val 833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68225" y="3878461"/>
            <a:ext cx="46110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48E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03 · CLIENT/SERVER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468225" y="4373761"/>
            <a:ext cx="46110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Удалённо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2468225" y="4964311"/>
            <a:ext cx="46110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glances -s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68225" y="5211961"/>
            <a:ext cx="46110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glances -c host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468225" y="5650111"/>
            <a:ext cx="447675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26" name="Text 24"/>
          <p:cNvSpPr/>
          <p:nvPr/>
        </p:nvSpPr>
        <p:spPr>
          <a:xfrm>
            <a:off x="12468225" y="5926336"/>
            <a:ext cx="461105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на удалённой машине, клиент подключается по сети.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2500" y="9176445"/>
            <a:ext cx="37536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Цветовая индикация порогов: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4711154" y="9138345"/>
            <a:ext cx="46166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5210919" y="9176445"/>
            <a:ext cx="3414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5590431" y="9138345"/>
            <a:ext cx="1321147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CAREFUL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949678" y="9176445"/>
            <a:ext cx="3414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329190" y="9138345"/>
            <a:ext cx="138157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B48E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748861" y="9176445"/>
            <a:ext cx="3414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128373" y="9138345"/>
            <a:ext cx="134376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52500" y="9734550"/>
            <a:ext cx="13388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 / 13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— 18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0737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 / Эксперимент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52500" y="2840236"/>
            <a:ext cx="1687449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Веб-интерфейс и экспорт метрик в CSV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3684091"/>
            <a:ext cx="85922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БРАУЗЕР · :61208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4084141"/>
            <a:ext cx="8341965" cy="3240732"/>
          </a:xfrm>
          <a:prstGeom prst="roundRect">
            <a:avLst>
              <a:gd name="adj" fmla="val 1763"/>
            </a:avLst>
          </a:prstGeom>
          <a:solidFill>
            <a:srgbClr val="0A0B0E"/>
          </a:solidFill>
          <a:ln w="9525">
            <a:solidFill>
              <a:srgbClr val="2A2D35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2025" y="4093666"/>
            <a:ext cx="8322915" cy="438150"/>
          </a:xfrm>
          <a:prstGeom prst="rect">
            <a:avLst/>
          </a:prstGeom>
          <a:solidFill>
            <a:srgbClr val="1A1C22"/>
          </a:solidFill>
          <a:ln/>
        </p:spPr>
      </p:sp>
      <p:sp>
        <p:nvSpPr>
          <p:cNvPr id="11" name="Shape 9"/>
          <p:cNvSpPr/>
          <p:nvPr/>
        </p:nvSpPr>
        <p:spPr>
          <a:xfrm>
            <a:off x="962025" y="4522291"/>
            <a:ext cx="8322915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4425" y="42508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13" name="Shape 11"/>
          <p:cNvSpPr/>
          <p:nvPr/>
        </p:nvSpPr>
        <p:spPr>
          <a:xfrm>
            <a:off x="1304925" y="42508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14" name="Shape 12"/>
          <p:cNvSpPr/>
          <p:nvPr/>
        </p:nvSpPr>
        <p:spPr>
          <a:xfrm>
            <a:off x="1495425" y="42508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15" name="Text 13"/>
          <p:cNvSpPr/>
          <p:nvPr/>
        </p:nvSpPr>
        <p:spPr>
          <a:xfrm>
            <a:off x="1574226" y="4207966"/>
            <a:ext cx="76700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68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 · http://localhost:61208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28725" y="4760416"/>
            <a:ext cx="1937742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8725" y="5114627"/>
            <a:ext cx="193774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204567" y="4760416"/>
            <a:ext cx="193789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4567" y="5114627"/>
            <a:ext cx="1937891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spc="-12" kern="0" dirty="0">
                <a:solidFill>
                  <a:srgbClr val="E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180558" y="4760416"/>
            <a:ext cx="193789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80558" y="5114627"/>
            <a:ext cx="1937891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1.2M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156549" y="4760416"/>
            <a:ext cx="193789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56549" y="5114627"/>
            <a:ext cx="1937891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spc="-12" kern="0" dirty="0">
                <a:solidFill>
                  <a:srgbClr val="E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62°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28725" y="5669905"/>
            <a:ext cx="802320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CPU% MEM% NAME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28725" y="6024116"/>
            <a:ext cx="802320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1842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E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firefox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8725" y="6378327"/>
            <a:ext cx="802320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2104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 code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28725" y="6732538"/>
            <a:ext cx="802320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2390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 polybar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51665" y="3684091"/>
            <a:ext cx="78113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ЭКСПОРТ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751665" y="4084141"/>
            <a:ext cx="7583835" cy="1699022"/>
          </a:xfrm>
          <a:prstGeom prst="roundRect">
            <a:avLst>
              <a:gd name="adj" fmla="val 3364"/>
            </a:avLst>
          </a:prstGeom>
          <a:solidFill>
            <a:srgbClr val="0A0B0E"/>
          </a:solidFill>
          <a:ln w="9525">
            <a:solidFill>
              <a:srgbClr val="2A2D35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61190" y="4093666"/>
            <a:ext cx="7564785" cy="438150"/>
          </a:xfrm>
          <a:prstGeom prst="rect">
            <a:avLst/>
          </a:prstGeom>
          <a:solidFill>
            <a:srgbClr val="1A1C22"/>
          </a:solidFill>
          <a:ln/>
        </p:spPr>
      </p:sp>
      <p:sp>
        <p:nvSpPr>
          <p:cNvPr id="31" name="Shape 29"/>
          <p:cNvSpPr/>
          <p:nvPr/>
        </p:nvSpPr>
        <p:spPr>
          <a:xfrm>
            <a:off x="9761190" y="4522291"/>
            <a:ext cx="7564785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32" name="Shape 30"/>
          <p:cNvSpPr/>
          <p:nvPr/>
        </p:nvSpPr>
        <p:spPr>
          <a:xfrm>
            <a:off x="9913590" y="42508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04090" y="42508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94590" y="4250829"/>
            <a:ext cx="114300" cy="114300"/>
          </a:xfrm>
          <a:prstGeom prst="ellipse">
            <a:avLst/>
          </a:prstGeom>
          <a:solidFill>
            <a:srgbClr val="3A3E48"/>
          </a:solidFill>
          <a:ln/>
        </p:spPr>
      </p:sp>
      <p:sp>
        <p:nvSpPr>
          <p:cNvPr id="35" name="Text 33"/>
          <p:cNvSpPr/>
          <p:nvPr/>
        </p:nvSpPr>
        <p:spPr>
          <a:xfrm>
            <a:off x="10384763" y="4207966"/>
            <a:ext cx="68891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68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065990" y="4798516"/>
            <a:ext cx="7182128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CF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 --export csv \ --export-csv-file </a:t>
            </a:r>
            <a:pPr algn="l" indent="0" marL="0">
              <a:lnSpc>
                <a:spcPct val="155000"/>
              </a:lnSpc>
              <a:buNone/>
            </a:pPr>
            <a:r>
              <a:rPr lang="en-US" sz="1800" spc="-12" kern="0" dirty="0">
                <a:solidFill>
                  <a:srgbClr val="E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stats.csv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51665" y="6049863"/>
            <a:ext cx="78113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СОБИРАЕМЫЕ МЕТРИКИ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751665" y="6449913"/>
            <a:ext cx="37878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cpu_percent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657808" y="6449913"/>
            <a:ext cx="37880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mem_percent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751665" y="6811863"/>
            <a:ext cx="37878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net_rx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657808" y="6811863"/>
            <a:ext cx="37880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net_tx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751665" y="7173813"/>
            <a:ext cx="37878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disk_read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3657808" y="7173813"/>
            <a:ext cx="37880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disk_write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751665" y="7535763"/>
            <a:ext cx="37878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load_avg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3657808" y="7535763"/>
            <a:ext cx="37880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sensors_temp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751665" y="8031063"/>
            <a:ext cx="78113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также: InfluxDB, Prometheus, Graphite, JSON.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52500" y="9734550"/>
            <a:ext cx="13388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 / 14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— 18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0737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 / Итог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52500" y="3640336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ПЛЮСЫ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52500" y="4135636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" y="4135636"/>
            <a:ext cx="501068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Комплексность — всё в одном месте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" y="4692848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33500" y="4692848"/>
            <a:ext cx="376533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Веб-интерфейс и REST API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" y="5250061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3500" y="5250061"/>
            <a:ext cx="485908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Экспорт: CSV, InfluxDB, Prometheus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52500" y="5807273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33500" y="5807273"/>
            <a:ext cx="299641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Docker-образ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2500" y="6364486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A3B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333500" y="6364486"/>
            <a:ext cx="349508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Клиент-серверный режим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525000" y="3640336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МИНУСЫ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25000" y="4135636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906000" y="4135636"/>
            <a:ext cx="358858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Тяжелее — Python-runtime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525000" y="4692848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906000" y="4692848"/>
            <a:ext cx="41142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зависимости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525000" y="5250061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906000" y="5250061"/>
            <a:ext cx="579830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деталей по процессам, чем у htop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525000" y="5807273"/>
            <a:ext cx="304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12" kern="0" dirty="0">
                <a:solidFill>
                  <a:srgbClr val="BF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906000" y="5807273"/>
            <a:ext cx="488943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Веб-режим требует открытого порта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52500" y="9734550"/>
            <a:ext cx="13388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 / 15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— 18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5012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Сравнительная таблица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52500" y="3997523"/>
            <a:ext cx="4914900" cy="9525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3545086"/>
            <a:ext cx="4605147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67400" y="3997523"/>
            <a:ext cx="3948857" cy="9525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3545086"/>
            <a:ext cx="361012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816257" y="3997523"/>
            <a:ext cx="2966145" cy="9525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44857" y="3545086"/>
            <a:ext cx="2597929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782401" y="3997523"/>
            <a:ext cx="4553099" cy="9525"/>
          </a:xfrm>
          <a:prstGeom prst="rect">
            <a:avLst/>
          </a:prstGeom>
          <a:solidFill>
            <a:srgbClr val="3A3E48"/>
          </a:solidFill>
          <a:ln/>
        </p:spPr>
      </p:sp>
      <p:sp>
        <p:nvSpPr>
          <p:cNvPr id="14" name="Text 12"/>
          <p:cNvSpPr/>
          <p:nvPr/>
        </p:nvSpPr>
        <p:spPr>
          <a:xfrm>
            <a:off x="13011001" y="3545086"/>
            <a:ext cx="423249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52500" y="4721423"/>
            <a:ext cx="49149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4216598"/>
            <a:ext cx="46051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5867400" y="4721423"/>
            <a:ext cx="3948857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0" y="4216598"/>
            <a:ext cx="36101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статуса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816257" y="4721423"/>
            <a:ext cx="2966145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20" name="Text 18"/>
          <p:cNvSpPr/>
          <p:nvPr/>
        </p:nvSpPr>
        <p:spPr>
          <a:xfrm>
            <a:off x="10044857" y="4216598"/>
            <a:ext cx="2597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Процессы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782401" y="4721423"/>
            <a:ext cx="4553099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22" name="Text 20"/>
          <p:cNvSpPr/>
          <p:nvPr/>
        </p:nvSpPr>
        <p:spPr>
          <a:xfrm>
            <a:off x="13011001" y="4216598"/>
            <a:ext cx="42324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Комплексный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5445323"/>
            <a:ext cx="49149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24" name="Text 22"/>
          <p:cNvSpPr/>
          <p:nvPr/>
        </p:nvSpPr>
        <p:spPr>
          <a:xfrm>
            <a:off x="1181100" y="4940498"/>
            <a:ext cx="46051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5867400" y="5445323"/>
            <a:ext cx="3948857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26" name="Text 24"/>
          <p:cNvSpPr/>
          <p:nvPr/>
        </p:nvSpPr>
        <p:spPr>
          <a:xfrm>
            <a:off x="6096000" y="4940498"/>
            <a:ext cx="36101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816257" y="5445323"/>
            <a:ext cx="2966145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28" name="Text 26"/>
          <p:cNvSpPr/>
          <p:nvPr/>
        </p:nvSpPr>
        <p:spPr>
          <a:xfrm>
            <a:off x="10044857" y="4940498"/>
            <a:ext cx="2597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2782401" y="5445323"/>
            <a:ext cx="4553099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30" name="Text 28"/>
          <p:cNvSpPr/>
          <p:nvPr/>
        </p:nvSpPr>
        <p:spPr>
          <a:xfrm>
            <a:off x="13011001" y="4940498"/>
            <a:ext cx="42324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52500" y="6169223"/>
            <a:ext cx="49149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32" name="Text 30"/>
          <p:cNvSpPr/>
          <p:nvPr/>
        </p:nvSpPr>
        <p:spPr>
          <a:xfrm>
            <a:off x="1181100" y="5664398"/>
            <a:ext cx="46051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Веб-интерфейс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5867400" y="6169223"/>
            <a:ext cx="3948857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34" name="Text 32"/>
          <p:cNvSpPr/>
          <p:nvPr/>
        </p:nvSpPr>
        <p:spPr>
          <a:xfrm>
            <a:off x="6096000" y="5664398"/>
            <a:ext cx="36101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816257" y="6169223"/>
            <a:ext cx="2966145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36" name="Text 34"/>
          <p:cNvSpPr/>
          <p:nvPr/>
        </p:nvSpPr>
        <p:spPr>
          <a:xfrm>
            <a:off x="10044857" y="5664398"/>
            <a:ext cx="2597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2782401" y="6169223"/>
            <a:ext cx="4553099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38" name="Text 36"/>
          <p:cNvSpPr/>
          <p:nvPr/>
        </p:nvSpPr>
        <p:spPr>
          <a:xfrm>
            <a:off x="13011001" y="5664398"/>
            <a:ext cx="42324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52500" y="6893123"/>
            <a:ext cx="49149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40" name="Text 38"/>
          <p:cNvSpPr/>
          <p:nvPr/>
        </p:nvSpPr>
        <p:spPr>
          <a:xfrm>
            <a:off x="1181100" y="6388298"/>
            <a:ext cx="46051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5867400" y="6893123"/>
            <a:ext cx="3948857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42" name="Text 40"/>
          <p:cNvSpPr/>
          <p:nvPr/>
        </p:nvSpPr>
        <p:spPr>
          <a:xfrm>
            <a:off x="6096000" y="6388298"/>
            <a:ext cx="36101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9816257" y="6893123"/>
            <a:ext cx="2966145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44" name="Text 42"/>
          <p:cNvSpPr/>
          <p:nvPr/>
        </p:nvSpPr>
        <p:spPr>
          <a:xfrm>
            <a:off x="10044857" y="6388298"/>
            <a:ext cx="2597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2782401" y="6893123"/>
            <a:ext cx="4553099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1001" y="6388298"/>
            <a:ext cx="42324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952500" y="7617023"/>
            <a:ext cx="49149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48" name="Text 46"/>
          <p:cNvSpPr/>
          <p:nvPr/>
        </p:nvSpPr>
        <p:spPr>
          <a:xfrm>
            <a:off x="1181100" y="7112198"/>
            <a:ext cx="46051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Удалённый доступ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5867400" y="7617023"/>
            <a:ext cx="3948857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50" name="Text 48"/>
          <p:cNvSpPr/>
          <p:nvPr/>
        </p:nvSpPr>
        <p:spPr>
          <a:xfrm>
            <a:off x="6096000" y="7112198"/>
            <a:ext cx="36101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9816257" y="7617023"/>
            <a:ext cx="2966145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52" name="Text 50"/>
          <p:cNvSpPr/>
          <p:nvPr/>
        </p:nvSpPr>
        <p:spPr>
          <a:xfrm>
            <a:off x="10044857" y="7112198"/>
            <a:ext cx="2597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SSH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12782401" y="7617023"/>
            <a:ext cx="4553099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54" name="Text 52"/>
          <p:cNvSpPr/>
          <p:nvPr/>
        </p:nvSpPr>
        <p:spPr>
          <a:xfrm>
            <a:off x="13011001" y="7112198"/>
            <a:ext cx="42324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952500" y="8340923"/>
            <a:ext cx="49149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56" name="Text 54"/>
          <p:cNvSpPr/>
          <p:nvPr/>
        </p:nvSpPr>
        <p:spPr>
          <a:xfrm>
            <a:off x="1181100" y="7836098"/>
            <a:ext cx="46051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метрик</a:t>
            </a:r>
            <a:endParaRPr lang="en-US" sz="1950" dirty="0"/>
          </a:p>
        </p:txBody>
      </p:sp>
      <p:sp>
        <p:nvSpPr>
          <p:cNvPr id="57" name="Shape 55"/>
          <p:cNvSpPr/>
          <p:nvPr/>
        </p:nvSpPr>
        <p:spPr>
          <a:xfrm>
            <a:off x="5867400" y="8340923"/>
            <a:ext cx="3948857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58" name="Text 56"/>
          <p:cNvSpPr/>
          <p:nvPr/>
        </p:nvSpPr>
        <p:spPr>
          <a:xfrm>
            <a:off x="6096000" y="7836098"/>
            <a:ext cx="36101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9816257" y="8340923"/>
            <a:ext cx="2966145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60" name="Text 58"/>
          <p:cNvSpPr/>
          <p:nvPr/>
        </p:nvSpPr>
        <p:spPr>
          <a:xfrm>
            <a:off x="10044857" y="7836098"/>
            <a:ext cx="2597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12782401" y="8340923"/>
            <a:ext cx="4553099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62" name="Text 60"/>
          <p:cNvSpPr/>
          <p:nvPr/>
        </p:nvSpPr>
        <p:spPr>
          <a:xfrm>
            <a:off x="13011001" y="7836098"/>
            <a:ext cx="42324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1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Influx / Prom</a:t>
            </a:r>
            <a:endParaRPr lang="en-US" sz="1950" dirty="0"/>
          </a:p>
        </p:txBody>
      </p:sp>
      <p:sp>
        <p:nvSpPr>
          <p:cNvPr id="63" name="Text 61"/>
          <p:cNvSpPr/>
          <p:nvPr/>
        </p:nvSpPr>
        <p:spPr>
          <a:xfrm>
            <a:off x="952500" y="9734550"/>
            <a:ext cx="17976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 / 16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— 18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5012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762125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85975"/>
            <a:ext cx="168744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Рекомендуемая связка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52500" y="3487936"/>
            <a:ext cx="5308550" cy="2863155"/>
          </a:xfrm>
          <a:prstGeom prst="roundRect">
            <a:avLst>
              <a:gd name="adj" fmla="val 1331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3025" y="3878461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ПОСТОЯННО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3025" y="4335661"/>
            <a:ext cx="466332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343025" y="5040511"/>
            <a:ext cx="45275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11" name="Text 9"/>
          <p:cNvSpPr/>
          <p:nvPr/>
        </p:nvSpPr>
        <p:spPr>
          <a:xfrm>
            <a:off x="1343025" y="5240536"/>
            <a:ext cx="46633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Всегда на экране — пассивный фон состояния системы.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89650" y="3487936"/>
            <a:ext cx="5308550" cy="2863155"/>
          </a:xfrm>
          <a:prstGeom prst="roundRect">
            <a:avLst>
              <a:gd name="adj" fmla="val 1331"/>
            </a:avLst>
          </a:prstGeom>
          <a:solidFill>
            <a:srgbClr val="16181D"/>
          </a:solidFill>
          <a:ln w="9525">
            <a:solidFill>
              <a:srgbClr val="2A2D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0175" y="3878461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ПО ТРЕБОВАНИЮ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80175" y="4335661"/>
            <a:ext cx="466332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6880175" y="5040511"/>
            <a:ext cx="45275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16" name="Text 14"/>
          <p:cNvSpPr/>
          <p:nvPr/>
        </p:nvSpPr>
        <p:spPr>
          <a:xfrm>
            <a:off x="6880175" y="5240536"/>
            <a:ext cx="46633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нужна быстрая диагностика процессов локально.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026801" y="3487936"/>
            <a:ext cx="5308550" cy="2863155"/>
          </a:xfrm>
          <a:prstGeom prst="roundRect">
            <a:avLst>
              <a:gd name="adj" fmla="val 1331"/>
            </a:avLst>
          </a:prstGeom>
          <a:solidFill>
            <a:srgbClr val="16181D"/>
          </a:solidFill>
          <a:ln w="9525">
            <a:solidFill>
              <a:srgbClr val="88C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17326" y="3878461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ГЛУБОКО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417326" y="4335661"/>
            <a:ext cx="466332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</a:t>
            </a:r>
            <a:endParaRPr lang="en-US" sz="3300" dirty="0"/>
          </a:p>
        </p:txBody>
      </p:sp>
      <p:sp>
        <p:nvSpPr>
          <p:cNvPr id="20" name="Shape 18"/>
          <p:cNvSpPr/>
          <p:nvPr/>
        </p:nvSpPr>
        <p:spPr>
          <a:xfrm>
            <a:off x="12417326" y="5040511"/>
            <a:ext cx="4527500" cy="9525"/>
          </a:xfrm>
          <a:prstGeom prst="rect">
            <a:avLst/>
          </a:prstGeom>
          <a:solidFill>
            <a:srgbClr val="2A2D35"/>
          </a:solidFill>
          <a:ln/>
        </p:spPr>
      </p:sp>
      <p:sp>
        <p:nvSpPr>
          <p:cNvPr id="21" name="Text 19"/>
          <p:cNvSpPr/>
          <p:nvPr/>
        </p:nvSpPr>
        <p:spPr>
          <a:xfrm>
            <a:off x="12417326" y="5240536"/>
            <a:ext cx="46633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Глубокий анализ, история и удалённый сервер.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52500" y="8153400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8477250"/>
            <a:ext cx="1471612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spc="-49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инструмента закрывают всю шкалу — от взгляда вскользь до глубокого расследования и удалённого мониторинга.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52500" y="9734550"/>
            <a:ext cx="17976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 / 17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6469916" y="9734550"/>
            <a:ext cx="941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— 18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612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9906" y="952500"/>
            <a:ext cx="218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883" y="952500"/>
            <a:ext cx="15012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2340322"/>
            <a:ext cx="762000" cy="19050"/>
          </a:xfrm>
          <a:prstGeom prst="rect">
            <a:avLst/>
          </a:prstGeom>
          <a:solidFill>
            <a:srgbClr val="88C0D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664172"/>
            <a:ext cx="16874490" cy="3078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600" b="1" spc="-378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</a:t>
            </a:r>
            <a:pPr algn="l" indent="0" marL="0">
              <a:lnSpc>
                <a:spcPct val="95000"/>
              </a:lnSpc>
              <a:buNone/>
            </a:pPr>
            <a:r>
              <a:rPr lang="en-US" sz="12600" b="1" spc="-378" kern="0" dirty="0">
                <a:solidFill>
                  <a:srgbClr val="88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внимание.</a:t>
            </a:r>
            <a:endParaRPr lang="en-US" sz="12600" dirty="0"/>
          </a:p>
        </p:txBody>
      </p:sp>
      <p:sp>
        <p:nvSpPr>
          <p:cNvPr id="7" name="Text 5"/>
          <p:cNvSpPr/>
          <p:nvPr/>
        </p:nvSpPr>
        <p:spPr>
          <a:xfrm>
            <a:off x="952500" y="6161633"/>
            <a:ext cx="16874490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spc="-49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/ Q&amp;A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52500" y="7734151"/>
            <a:ext cx="87760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ССЫЛКИ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8238976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POLYBAR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33700" y="8191351"/>
            <a:ext cx="33163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github.com/polybar/polybar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2500" y="8753326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933700" y="8705701"/>
            <a:ext cx="10993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htop.dev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2500" y="9267676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933700" y="9220051"/>
            <a:ext cx="32708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nicolargo.github.io/glances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021892" y="8361015"/>
            <a:ext cx="73136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5A6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АВТОР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21892" y="8818215"/>
            <a:ext cx="7313608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2100" spc="-12" kern="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Капытин Андрей Игоревич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021892" y="9204871"/>
            <a:ext cx="731360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800" spc="-12" kern="0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ИЦТМС 3-4 ·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2026-04-29T08:22:48Z</dcterms:created>
  <dcterms:modified xsi:type="dcterms:W3CDTF">2026-04-29T08:22:48Z</dcterms:modified>
</cp:coreProperties>
</file>